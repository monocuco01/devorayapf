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332" r:id="rId3"/>
    <p:sldId id="331" r:id="rId4"/>
    <p:sldId id="333" r:id="rId5"/>
    <p:sldId id="272" r:id="rId6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533" autoAdjust="0"/>
    <p:restoredTop sz="94660"/>
  </p:normalViewPr>
  <p:slideViewPr>
    <p:cSldViewPr snapToGrid="0">
      <p:cViewPr varScale="1">
        <p:scale>
          <a:sx n="70" d="100"/>
          <a:sy n="70" d="100"/>
        </p:scale>
        <p:origin x="516" y="6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JP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2AB15E28-9D86-461D-88AA-D6DECC602B0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7E8E85D-4C65-4DF0-88AC-007D8F010D9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40477" y="5430139"/>
            <a:ext cx="1026645" cy="500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3678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D82E5D09-DF20-4991-9419-E017D8B6C50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9838" t="20804" r="22232" b="21236"/>
          <a:stretch/>
        </p:blipFill>
        <p:spPr>
          <a:xfrm>
            <a:off x="1" y="214995"/>
            <a:ext cx="1870364" cy="605063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9DE18F99-3E94-4243-A7E8-C6D34F935D9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A69E99B1-A260-4496-AE50-A4317E588CA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746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84DD633E-0EAC-4265-B9A9-95C72069F8F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50C8CA9-628C-4AFB-8BE7-2795EE89A85E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4049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2_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06500" y="365125"/>
            <a:ext cx="101473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1206500" y="1825625"/>
            <a:ext cx="101473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52D25B11-160F-4FD6-B47E-291B8EA0E42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219438E8-EF44-4890-B588-86D95ED02F49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32334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707511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632481D0-1841-41A7-B132-9C4AD892C09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66531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1"/>
            <a:ext cx="12192001" cy="6858001"/>
          </a:xfrm>
          <a:prstGeom prst="rect">
            <a:avLst/>
          </a:prstGeom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93800" y="365125"/>
            <a:ext cx="10161588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1181100" y="1681163"/>
            <a:ext cx="4816475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1193800" y="2505075"/>
            <a:ext cx="4803775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796A5C32-F459-4C12-B7DA-1BEDB4CC896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AEEFC648-3B54-469E-8C9F-37960764A07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76594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576FA7A-5930-4C71-A1C5-ACB63778494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373276-6B13-4305-9706-A03C6E12F2C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0695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231900" y="365125"/>
            <a:ext cx="10121900" cy="1325563"/>
          </a:xfrm>
        </p:spPr>
        <p:txBody>
          <a:bodyPr/>
          <a:lstStyle/>
          <a:p>
            <a:r>
              <a:rPr lang="es-ES" dirty="0"/>
              <a:t>Haga clic para modificar el estilo de título del patrón</a:t>
            </a:r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9353595-A041-46E9-A5C5-9E2F98A3B9A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5CA9D8-6F1D-4B4E-AD37-15BDE0747F1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024605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2081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4DF50FEB-5076-4F7F-9BD2-A58F9801504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1403" y="244611"/>
            <a:ext cx="1623060" cy="436426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9447232-3D03-472F-B808-03DF4B0AD67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22467" y="6175607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9658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F43F575-EF93-45C2-B9B6-E6F16B5B530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0F7FC34E-9E9C-43C7-8DEE-BB97430E7D2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21799" y="5538044"/>
            <a:ext cx="707863" cy="345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594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08835174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61496786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513219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n 7">
            <a:extLst>
              <a:ext uri="{FF2B5EF4-FFF2-40B4-BE49-F238E27FC236}">
                <a16:creationId xmlns:a16="http://schemas.microsoft.com/office/drawing/2014/main" id="{7E48E972-324F-44D6-93F6-8D15B0F84DA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31598" y="1944647"/>
            <a:ext cx="2089693" cy="2494571"/>
          </a:xfrm>
          <a:prstGeom prst="rect">
            <a:avLst/>
          </a:prstGeom>
        </p:spPr>
      </p:pic>
      <p:sp>
        <p:nvSpPr>
          <p:cNvPr id="9" name="Marcador de texto 2">
            <a:extLst>
              <a:ext uri="{FF2B5EF4-FFF2-40B4-BE49-F238E27FC236}">
                <a16:creationId xmlns:a16="http://schemas.microsoft.com/office/drawing/2014/main" id="{C32602C9-2572-460C-97B0-0E0406FD86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dirty="0"/>
              <a:t>Haga clic para modificar el estilo de texto del patrón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4BA6C35-58E1-4EDB-8754-F5A0AB63B4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336" y="2383784"/>
            <a:ext cx="3905638" cy="19051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66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D42A0F-28D5-454E-A564-648C09BA6C90}" type="datetimeFigureOut">
              <a:rPr lang="es-ES" smtClean="0"/>
              <a:t>17/11/2025</a:t>
            </a:fld>
            <a:endParaRPr lang="es-ES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C2D65-7570-4876-95F1-CDCFDC8D7E0D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909682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63" r:id="rId4"/>
    <p:sldLayoutId id="2147483651" r:id="rId5"/>
    <p:sldLayoutId id="2147483652" r:id="rId6"/>
    <p:sldLayoutId id="2147483653" r:id="rId7"/>
    <p:sldLayoutId id="2147483654" r:id="rId8"/>
    <p:sldLayoutId id="2147483662" r:id="rId9"/>
    <p:sldLayoutId id="2147483655" r:id="rId10"/>
    <p:sldLayoutId id="2147483661" r:id="rId11"/>
    <p:sldLayoutId id="2147483656" r:id="rId12"/>
    <p:sldLayoutId id="2147483657" r:id="rId13"/>
    <p:sldLayoutId id="2147483658" r:id="rId14"/>
    <p:sldLayoutId id="2147483659" r:id="rId1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83072E-4BE2-49F6-950B-1AF08C0B98A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193801" y="1256412"/>
            <a:ext cx="8579141" cy="1864118"/>
          </a:xfrm>
        </p:spPr>
        <p:txBody>
          <a:bodyPr>
            <a:noAutofit/>
          </a:bodyPr>
          <a:lstStyle/>
          <a:p>
            <a:pPr algn="l"/>
            <a:br>
              <a:rPr lang="es-ES" sz="6600" b="1" dirty="0"/>
            </a:br>
            <a:r>
              <a:rPr lang="es-E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NatuCafé</a:t>
            </a:r>
            <a:r>
              <a:rPr lang="es-E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s-ES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Innovación para tu Cabello La Esencia del Café en tu Cuidado Capilar</a:t>
            </a:r>
            <a:endParaRPr lang="es-CO" sz="6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1AE6EF30-C4CC-42D5-850D-CF7D763841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70086" y="3647128"/>
            <a:ext cx="8579141" cy="1686697"/>
          </a:xfrm>
        </p:spPr>
        <p:txBody>
          <a:bodyPr>
            <a:normAutofit fontScale="92500" lnSpcReduction="10000"/>
          </a:bodyPr>
          <a:lstStyle/>
          <a:p>
            <a:r>
              <a:rPr lang="es-CO" sz="2800" b="1" dirty="0">
                <a:solidFill>
                  <a:srgbClr val="7030A0"/>
                </a:solidFill>
              </a:rPr>
              <a:t>x</a:t>
            </a:r>
          </a:p>
          <a:p>
            <a:pPr algn="l"/>
            <a:r>
              <a:rPr lang="es-ES" dirty="0"/>
              <a:t>Descubre </a:t>
            </a:r>
            <a:r>
              <a:rPr lang="es-ES" dirty="0" err="1"/>
              <a:t>NatuCafé</a:t>
            </a:r>
            <a:r>
              <a:rPr lang="es-ES" dirty="0"/>
              <a:t>, un champú revolucionario a base de café, diseñado para revitalizar tu cabello desde la raíz. Nuestro emprendimiento combina la sabiduría de la naturaleza con la ciencia moderna para ofrecer una solución única a problemas capilares comunes.</a:t>
            </a:r>
          </a:p>
          <a:p>
            <a:endParaRPr lang="es-CO" dirty="0">
              <a:solidFill>
                <a:srgbClr val="7030A0"/>
              </a:solidFill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0E5AE801-4389-4252-B20A-137FD71A87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5512" y="4932013"/>
            <a:ext cx="1647430" cy="803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76109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EAD9F425-3F9F-4D85-6732-4F21375794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3800" y="104775"/>
            <a:ext cx="10161588" cy="1325563"/>
          </a:xfrm>
        </p:spPr>
        <p:txBody>
          <a:bodyPr>
            <a:normAutofit/>
          </a:bodyPr>
          <a:lstStyle/>
          <a:p>
            <a:r>
              <a:rPr lang="es-E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Cabello opaco y sin vida</a:t>
            </a:r>
            <a:endParaRPr lang="es-CO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1D744649-14D5-32EB-753A-2A3D40BB8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81100" y="1681163"/>
            <a:ext cx="3242619" cy="823912"/>
          </a:xfrm>
        </p:spPr>
        <p:txBody>
          <a:bodyPr>
            <a:normAutofit/>
          </a:bodyPr>
          <a:lstStyle/>
          <a:p>
            <a:r>
              <a:rPr lang="es-ES" sz="2800" dirty="0"/>
              <a:t>Debilidad y caída</a:t>
            </a:r>
            <a:endParaRPr lang="es-CO" sz="2800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6DB84-AE8A-4F4C-BBCD-795E87FE26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93800" y="2505075"/>
            <a:ext cx="3518242" cy="3684588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" b="1" dirty="0"/>
          </a:p>
          <a:p>
            <a:pPr marL="0" indent="0">
              <a:buNone/>
            </a:pPr>
            <a:r>
              <a:rPr lang="es-ES" dirty="0"/>
              <a:t>Millones sufren de cabello frágil y una pérdida excesiva, impactando su confianza y bienestar.</a:t>
            </a:r>
          </a:p>
        </p:txBody>
      </p:sp>
      <p:sp>
        <p:nvSpPr>
          <p:cNvPr id="6" name="Marcador de texto 5">
            <a:extLst>
              <a:ext uri="{FF2B5EF4-FFF2-40B4-BE49-F238E27FC236}">
                <a16:creationId xmlns:a16="http://schemas.microsoft.com/office/drawing/2014/main" id="{33F283F3-52B4-E6CA-CD4A-BC15F1F8D7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54613" y="1681163"/>
            <a:ext cx="4135395" cy="823912"/>
          </a:xfrm>
        </p:spPr>
        <p:txBody>
          <a:bodyPr>
            <a:normAutofit/>
          </a:bodyPr>
          <a:lstStyle/>
          <a:p>
            <a:r>
              <a:rPr lang="es-ES" sz="2800" dirty="0"/>
              <a:t>Falta de Brillo</a:t>
            </a:r>
            <a:endParaRPr lang="es-CO" sz="2800" dirty="0"/>
          </a:p>
        </p:txBody>
      </p:sp>
      <p:sp>
        <p:nvSpPr>
          <p:cNvPr id="7" name="Marcador de contenido 6">
            <a:extLst>
              <a:ext uri="{FF2B5EF4-FFF2-40B4-BE49-F238E27FC236}">
                <a16:creationId xmlns:a16="http://schemas.microsoft.com/office/drawing/2014/main" id="{098D2C47-BF6A-7B6F-841F-2B0423B734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41110" y="2505075"/>
            <a:ext cx="3962400" cy="3684588"/>
          </a:xfrm>
        </p:spPr>
        <p:txBody>
          <a:bodyPr/>
          <a:lstStyle/>
          <a:p>
            <a:pPr marL="0" indent="0"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La exposición diaria a contaminantes y productos químicos deja el cabello sin su brillo natural.</a:t>
            </a:r>
          </a:p>
          <a:p>
            <a:pPr marL="0" indent="0">
              <a:buNone/>
            </a:pPr>
            <a:endParaRPr lang="es-CO" dirty="0"/>
          </a:p>
        </p:txBody>
      </p:sp>
      <p:sp>
        <p:nvSpPr>
          <p:cNvPr id="8" name="Marcador de texto 5">
            <a:extLst>
              <a:ext uri="{FF2B5EF4-FFF2-40B4-BE49-F238E27FC236}">
                <a16:creationId xmlns:a16="http://schemas.microsoft.com/office/drawing/2014/main" id="{95ACD1B9-57DE-86CC-6F52-0E640B70896C}"/>
              </a:ext>
            </a:extLst>
          </p:cNvPr>
          <p:cNvSpPr txBox="1">
            <a:spLocks/>
          </p:cNvSpPr>
          <p:nvPr/>
        </p:nvSpPr>
        <p:spPr>
          <a:xfrm>
            <a:off x="8447903" y="1681163"/>
            <a:ext cx="4135395" cy="8239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ES" sz="2800" dirty="0"/>
              <a:t>Crecimiento Lento</a:t>
            </a:r>
            <a:endParaRPr lang="es-CO" sz="2800" dirty="0"/>
          </a:p>
        </p:txBody>
      </p:sp>
      <p:sp>
        <p:nvSpPr>
          <p:cNvPr id="9" name="Marcador de contenido 6">
            <a:extLst>
              <a:ext uri="{FF2B5EF4-FFF2-40B4-BE49-F238E27FC236}">
                <a16:creationId xmlns:a16="http://schemas.microsoft.com/office/drawing/2014/main" id="{E37DFE93-69E9-EFE9-C971-DFB48CEF8BFA}"/>
              </a:ext>
            </a:extLst>
          </p:cNvPr>
          <p:cNvSpPr txBox="1">
            <a:spLocks/>
          </p:cNvSpPr>
          <p:nvPr/>
        </p:nvSpPr>
        <p:spPr>
          <a:xfrm>
            <a:off x="8315626" y="2505075"/>
            <a:ext cx="3876374" cy="368458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endParaRPr lang="es-ES" dirty="0"/>
          </a:p>
          <a:p>
            <a:pPr marL="0" indent="0">
              <a:buNone/>
            </a:pPr>
            <a:r>
              <a:rPr lang="es-ES" dirty="0"/>
              <a:t>Muchos desean un crecimiento más rápido y saludable, pero carecen de soluciones efectivas.</a:t>
            </a:r>
          </a:p>
        </p:txBody>
      </p:sp>
    </p:spTree>
    <p:extLst>
      <p:ext uri="{BB962C8B-B14F-4D97-AF65-F5344CB8AC3E}">
        <p14:creationId xmlns:p14="http://schemas.microsoft.com/office/powerpoint/2010/main" val="356232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229847-721C-4AD3-A5CA-46A437E21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NatuCafé</a:t>
            </a:r>
            <a:r>
              <a:rPr lang="es-E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La Solución Innovadora</a:t>
            </a:r>
            <a:endParaRPr lang="es-CO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E86DB84-AE8A-4F4C-BBCD-795E87FE26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¿Cómo </a:t>
            </a:r>
            <a:r>
              <a:rPr lang="es-ES" b="1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NatuCafé</a:t>
            </a:r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Transforma tu Cabello?</a:t>
            </a:r>
          </a:p>
          <a:p>
            <a:pPr marL="457200" lvl="1" indent="0">
              <a:buNone/>
            </a:pPr>
            <a:r>
              <a:rPr lang="es-ES" dirty="0" err="1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NatuCafé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aprovecha las propiedades estimulantes y antioxidantes del café para ofrecer una solución integral:</a:t>
            </a:r>
          </a:p>
          <a:p>
            <a:pPr marL="457200" lvl="1" indent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Estimula el Crecimiento: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La cafeína activa la circulación en el cuero cabelludo, promoviendo el crecimiento de cabello fuerte.</a:t>
            </a:r>
          </a:p>
          <a:p>
            <a:pPr marL="457200" lvl="1" indent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Fortaleza y Resistencia: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Reduce la caída y fortalece la fibra capilar, disminuyendo la fragilidad.</a:t>
            </a:r>
          </a:p>
          <a:p>
            <a:pPr marL="457200" lvl="1" indent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Brillo Radiante: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Sus antioxidantes devuelven la vitalidad y un brillo natural al cabello.</a:t>
            </a:r>
          </a:p>
          <a:p>
            <a:pPr marL="457200" lvl="1" indent="0">
              <a:buNone/>
            </a:pPr>
            <a:endParaRPr lang="es-ES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  <a:p>
            <a:pPr lvl="1"/>
            <a:r>
              <a:rPr lang="es-ES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Nutrición Profunda:</a:t>
            </a:r>
            <a:r>
              <a:rPr lang="es-ES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 Ingredientes naturales complementarios nutren y reparan el cabello dañado.</a:t>
            </a:r>
          </a:p>
          <a:p>
            <a:pPr marL="0" indent="0" algn="just">
              <a:buNone/>
            </a:pP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32738652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F2A29B-0EAB-4323-C942-7F33DD979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s-E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Rentabilidad</a:t>
            </a:r>
            <a:endParaRPr lang="es-CO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6783F4C-641E-9732-9BA7-BF23FA6C6E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7524"/>
            <a:ext cx="10515600" cy="4669439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El mercado de productos naturales y orgánicos para el cuidado personal está en auge. </a:t>
            </a:r>
            <a:r>
              <a:rPr lang="es-ES" sz="2400" dirty="0" err="1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NatuCafé</a:t>
            </a: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se posiciona estratégicamente para capitalizar esta tendencia:</a:t>
            </a:r>
          </a:p>
          <a:p>
            <a:pPr marL="0" indent="0">
              <a:buNone/>
            </a:pPr>
            <a:endParaRPr lang="es-E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Diferenciación Clave:</a:t>
            </a: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El café como ingrediente principal nos distingue de la competencia.</a:t>
            </a:r>
          </a:p>
          <a:p>
            <a:pPr marL="0" indent="0">
              <a:buNone/>
            </a:pPr>
            <a:endParaRPr lang="es-E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Creciente Demanda:</a:t>
            </a: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Los consumidores buscan activamente alternativas naturales y efectivas.</a:t>
            </a:r>
          </a:p>
          <a:p>
            <a:pPr marL="0" indent="0">
              <a:buNone/>
            </a:pPr>
            <a:endParaRPr lang="es-E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Modelo de Negocio Escalable:</a:t>
            </a: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Facilidad de producción y distribución con amplios márgenes de ganancia.</a:t>
            </a:r>
          </a:p>
          <a:p>
            <a:pPr marL="0" indent="0">
              <a:buNone/>
            </a:pPr>
            <a:endParaRPr lang="es-ES" sz="2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s-ES" sz="2400" b="1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Fidelización del Cliente:</a:t>
            </a:r>
            <a:r>
              <a:rPr lang="es-ES" sz="2400" dirty="0">
                <a:latin typeface="Times New Roman" panose="02020603050405020304" pitchFamily="18" charset="0"/>
                <a:ea typeface="Tahoma" panose="020B0604030504040204" pitchFamily="34" charset="0"/>
                <a:cs typeface="Times New Roman" panose="02020603050405020304" pitchFamily="18" charset="0"/>
              </a:rPr>
              <a:t> Resultados visibles que garantizan la recompra y recomendaciones.</a:t>
            </a:r>
          </a:p>
        </p:txBody>
      </p:sp>
    </p:spTree>
    <p:extLst>
      <p:ext uri="{BB962C8B-B14F-4D97-AF65-F5344CB8AC3E}">
        <p14:creationId xmlns:p14="http://schemas.microsoft.com/office/powerpoint/2010/main" val="18755444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8A47421-27A7-4B7D-8A09-49284309F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6848" y="891278"/>
            <a:ext cx="10515600" cy="5410668"/>
          </a:xfrm>
        </p:spPr>
        <p:txBody>
          <a:bodyPr>
            <a:normAutofit/>
          </a:bodyPr>
          <a:lstStyle/>
          <a:p>
            <a:pPr algn="ctr"/>
            <a:r>
              <a:rPr lang="es-CO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Gracias</a:t>
            </a:r>
          </a:p>
          <a:p>
            <a:pPr algn="ctr"/>
            <a:endParaRPr lang="es-CO" sz="3600" b="1" dirty="0"/>
          </a:p>
          <a:p>
            <a:pPr algn="ctr"/>
            <a:endParaRPr lang="es-E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sz="3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¡Invierte en </a:t>
            </a:r>
            <a:r>
              <a:rPr lang="es-ES" sz="3000" b="1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NatuCafé</a:t>
            </a:r>
            <a:r>
              <a:rPr lang="es-ES"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y sé parte del futuro del cuidado capilar!</a:t>
            </a:r>
          </a:p>
          <a:p>
            <a:pPr algn="ctr"/>
            <a:endParaRPr lang="es-CO" sz="3600" b="1" dirty="0"/>
          </a:p>
        </p:txBody>
      </p:sp>
    </p:spTree>
    <p:extLst>
      <p:ext uri="{BB962C8B-B14F-4D97-AF65-F5344CB8AC3E}">
        <p14:creationId xmlns:p14="http://schemas.microsoft.com/office/powerpoint/2010/main" val="156473323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6029</TotalTime>
  <Words>305</Words>
  <Application>Microsoft Office PowerPoint</Application>
  <PresentationFormat>Panorámica</PresentationFormat>
  <Paragraphs>42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11" baseType="lpstr">
      <vt:lpstr>Arial</vt:lpstr>
      <vt:lpstr>Calibri</vt:lpstr>
      <vt:lpstr>Calibri Light</vt:lpstr>
      <vt:lpstr>Tahoma</vt:lpstr>
      <vt:lpstr>Times New Roman</vt:lpstr>
      <vt:lpstr>Tema de Office</vt:lpstr>
      <vt:lpstr> NatuCafé: Innovación para tu Cabello La Esencia del Café en tu Cuidado Capilar</vt:lpstr>
      <vt:lpstr>Cabello opaco y sin vida</vt:lpstr>
      <vt:lpstr>NatuCafé: La Solución Innovadora</vt:lpstr>
      <vt:lpstr>Rentabilidad</vt:lpstr>
      <vt:lpstr>Presentación de PowerPoint</vt:lpstr>
    </vt:vector>
  </TitlesOfParts>
  <Company>HP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PC</dc:creator>
  <cp:lastModifiedBy>Joel Rodríguez</cp:lastModifiedBy>
  <cp:revision>315</cp:revision>
  <dcterms:created xsi:type="dcterms:W3CDTF">2020-05-16T15:49:21Z</dcterms:created>
  <dcterms:modified xsi:type="dcterms:W3CDTF">2025-11-17T15:34:47Z</dcterms:modified>
</cp:coreProperties>
</file>